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12480" y="-457200"/>
            <a:ext cx="4572000" cy="4572000"/>
          </a:xfrm>
          <a:prstGeom prst="roundRect">
            <a:avLst/>
          </a:prstGeom>
          <a:solidFill>
            <a:srgbClr val="B4EED6"/>
          </a:solidFill>
          <a:ln>
            <a:solidFill>
              <a:srgbClr val="B4E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274320"/>
            <a:ext cx="3657600" cy="3749039"/>
          </a:xfrm>
          <a:prstGeom prst="round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75520" y="1097280"/>
            <a:ext cx="1234440" cy="1234440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78440" y="2331720"/>
            <a:ext cx="502920" cy="502920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8580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IDEA SUBMISSION /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6400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600" b="1">
                <a:solidFill>
                  <a:srgbClr val="FAFAF8"/>
                </a:solidFill>
                <a:latin typeface="Aptos Display"/>
              </a:rPr>
              <a:t>PureSense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71323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B4EED6"/>
                </a:solidFill>
                <a:latin typeface="Aptos Display"/>
              </a:rPr>
              <a:t>AI-Powered Multisensor
Food Authenticity Screening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5669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8EFF6"/>
                </a:solidFill>
                <a:latin typeface="Aptos"/>
              </a:rPr>
              <a:t>A portable first-line screening device that detects unusual physical signatures and recommends laboratory verification.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5074920"/>
            <a:ext cx="2011680" cy="402336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519379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AFAF8"/>
                </a:solidFill>
                <a:latin typeface="Aptos Mono"/>
              </a:rPr>
              <a:t>SCREEN, DON’T CERTIFY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751"/>
                </a:solidFill>
                <a:latin typeface="Aptos Mono"/>
              </a:rP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8580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0F1218"/>
                </a:solidFill>
                <a:latin typeface="Aptos Display"/>
              </a:rPr>
              <a:t>Food can look normal.
That is the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51760"/>
            <a:ext cx="6126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F1218"/>
                </a:solidFill>
                <a:latin typeface="Aptos"/>
              </a:rPr>
              <a:t>Consumers and field inspectors often lack a rapid, low-cost way to assess suspicious samples before laboratory testing.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94760"/>
            <a:ext cx="3246120" cy="150876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87552" y="4050792"/>
            <a:ext cx="146304" cy="146304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40050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CONSUMERS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480560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Appearance alone cannot reliably reveal adulteration.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94760"/>
            <a:ext cx="3246120" cy="150876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4050792"/>
            <a:ext cx="146304" cy="146304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92040" y="40050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FIELD INSPECTORS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4480560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Need fast preliminary signals at the point of inspection.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3794760"/>
            <a:ext cx="3246120" cy="150876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11311" y="4050792"/>
            <a:ext cx="146304" cy="146304"/>
          </a:xfrm>
          <a:prstGeom prst="roundRect">
            <a:avLst/>
          </a:prstGeom>
          <a:solidFill>
            <a:srgbClr val="B4EED6"/>
          </a:solidFill>
          <a:ln>
            <a:solidFill>
              <a:srgbClr val="B4E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19" y="400507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THE GAP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480560"/>
            <a:ext cx="26974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Labs are authoritative, but not always practical for rapid screening.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02 /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85800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AFAF8"/>
                </a:solidFill>
                <a:latin typeface="Aptos Display"/>
              </a:rPr>
              <a:t>From suspected food
to verified answer.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88920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A5B0C2"/>
                </a:solidFill>
                <a:latin typeface="Aptos Mono"/>
              </a:rPr>
              <a:t>Existing path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AFAF8"/>
                </a:solidFill>
                <a:latin typeface="Aptos Display"/>
              </a:rPr>
              <a:t>sample → send to lab → wait →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6908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EED6"/>
                </a:solidFill>
                <a:latin typeface="Aptos Mono"/>
              </a:rPr>
              <a:t>Proposed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34840"/>
            <a:ext cx="8138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4EED6"/>
                </a:solidFill>
                <a:latin typeface="Aptos Display"/>
              </a:rPr>
              <a:t>sample → PureSense → 10–30 sec → screen → verify if needed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468880"/>
            <a:ext cx="1463040" cy="2286000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46920" y="3063240"/>
            <a:ext cx="11887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AFAF8"/>
                </a:solidFill>
                <a:latin typeface="Aptos Mono"/>
              </a:rPr>
              <a:t>FIRST
SCREENING
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751"/>
                </a:solidFill>
                <a:latin typeface="Aptos Mono"/>
              </a:rPr>
              <a:t>03 / WHAT WE WILL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498079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218"/>
                </a:solidFill>
                <a:latin typeface="Aptos Display"/>
              </a:rPr>
              <a:t>A small physical device
with a controlled sample chamber.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051560"/>
            <a:ext cx="3154680" cy="4434840"/>
          </a:xfrm>
          <a:prstGeom prst="round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0" y="1371600"/>
            <a:ext cx="22402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B4EED6"/>
                </a:solidFill>
                <a:latin typeface="Aptos Mono"/>
              </a:rPr>
              <a:t>PURESENSE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32520" y="1965960"/>
            <a:ext cx="1783080" cy="100584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0" y="2258568"/>
            <a:ext cx="14173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F1218"/>
                </a:solidFill>
                <a:latin typeface="Aptos Mono"/>
              </a:rPr>
              <a:t>SAMPLE
CUP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3337560"/>
            <a:ext cx="2606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4EED6"/>
                </a:solidFill>
                <a:latin typeface="Aptos Mono"/>
              </a:rPr>
              <a:t>↑  SENSOR ARRAY  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3886200"/>
            <a:ext cx="1600200" cy="640080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4096512"/>
            <a:ext cx="1600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AFAF8"/>
                </a:solidFill>
                <a:latin typeface="Aptos Mono"/>
              </a:rPr>
              <a:t>ESP32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4892040"/>
            <a:ext cx="21488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AFAF8"/>
                </a:solidFill>
                <a:latin typeface="Aptos Mono"/>
              </a:rPr>
              <a:t>OLED / Wi-Fi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2926080" cy="137160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87552" y="3182112"/>
            <a:ext cx="146304" cy="146304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13639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CONTROLLED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611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Repeatable geometry, sample volume, illumination and timing.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2926080"/>
            <a:ext cx="2926080" cy="137160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33672" y="3182112"/>
            <a:ext cx="146304" cy="146304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79" y="313639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MODULAR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59" y="36118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Start with the signals that prove useful. Drop the rest.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04 / SENSOR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4124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AFAF8"/>
                </a:solidFill>
                <a:latin typeface="Aptos Display"/>
              </a:rPr>
              <a:t>Measure multiple physical properties.
Let the data decide what matters.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834640"/>
            <a:ext cx="3154680" cy="1874519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3090672"/>
            <a:ext cx="146304" cy="146304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04495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OPTICAL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260604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LED + photodiode / RGB
intensity, ratios, response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2834640"/>
            <a:ext cx="3154680" cy="1874519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690872" y="3090672"/>
            <a:ext cx="146304" cy="146304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79" y="304495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ELECTRICAL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3520440"/>
            <a:ext cx="260604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Conductivity / impedance
resistance, magnitude, phase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834640"/>
            <a:ext cx="3154680" cy="1874519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394192" y="3090672"/>
            <a:ext cx="146304" cy="146304"/>
          </a:xfrm>
          <a:prstGeom prst="roundRect">
            <a:avLst/>
          </a:prstGeom>
          <a:solidFill>
            <a:srgbClr val="B4EED6"/>
          </a:solidFill>
          <a:ln>
            <a:solidFill>
              <a:srgbClr val="B4E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0" y="304495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THERMAL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520440"/>
            <a:ext cx="2606040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Controlled heat response
rate, stabilization time, ΔT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7589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E8EFF6"/>
                </a:solidFill>
                <a:latin typeface="Aptos"/>
              </a:rPr>
              <a:t>Candidate modalities, not promises. First task: test sensitivity and repeatability.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751"/>
                </a:solidFill>
                <a:latin typeface="Aptos Mono"/>
              </a:rPr>
              <a:t>05 / WHY MULTISENSOR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218"/>
                </a:solidFill>
                <a:latin typeface="Aptos Display"/>
              </a:rPr>
              <a:t>One sensor says “maybe.”
Fusion makes the pattern clearer.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063240"/>
            <a:ext cx="1691640" cy="96012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4752" y="3273552"/>
            <a:ext cx="411480" cy="411480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2245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218"/>
                </a:solidFill>
                <a:latin typeface="Aptos Mono"/>
              </a:rPr>
              <a:t>OPTICAL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3063240"/>
            <a:ext cx="1691640" cy="96012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85032" y="3273552"/>
            <a:ext cx="411480" cy="411480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42245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218"/>
                </a:solidFill>
                <a:latin typeface="Aptos Mono"/>
              </a:rPr>
              <a:t>ELECTRICAL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063240"/>
            <a:ext cx="1691640" cy="96012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971031" y="3273552"/>
            <a:ext cx="411480" cy="411480"/>
          </a:xfrm>
          <a:prstGeom prst="roundRect">
            <a:avLst/>
          </a:prstGeom>
          <a:solidFill>
            <a:srgbClr val="B4EED6"/>
          </a:solidFill>
          <a:ln>
            <a:solidFill>
              <a:srgbClr val="B4E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42245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218"/>
                </a:solidFill>
                <a:latin typeface="Aptos Mono"/>
              </a:rPr>
              <a:t>THERMAL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063240"/>
            <a:ext cx="1691640" cy="96012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57031" y="3273552"/>
            <a:ext cx="411480" cy="411480"/>
          </a:xfrm>
          <a:prstGeom prst="round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4224528"/>
            <a:ext cx="14173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F1218"/>
                </a:solidFill>
                <a:latin typeface="Aptos Mono"/>
              </a:rPr>
              <a:t>AI SENSOR FUSION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60320" y="3547872"/>
            <a:ext cx="411480" cy="0"/>
          </a:xfrm>
          <a:prstGeom prst="line">
            <a:avLst/>
          </a:prstGeom>
          <a:ln w="25400">
            <a:solidFill>
              <a:srgbClr val="5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800600" y="3547872"/>
            <a:ext cx="457200" cy="0"/>
          </a:xfrm>
          <a:prstGeom prst="line">
            <a:avLst/>
          </a:prstGeom>
          <a:ln w="25400">
            <a:solidFill>
              <a:srgbClr val="5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86600" y="3547872"/>
            <a:ext cx="457200" cy="0"/>
          </a:xfrm>
          <a:prstGeom prst="line">
            <a:avLst/>
          </a:prstGeom>
          <a:ln w="25400">
            <a:solidFill>
              <a:srgbClr val="538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829800" y="2834640"/>
            <a:ext cx="1554480" cy="1417320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0" y="324612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FAFAF8"/>
                </a:solidFill>
                <a:latin typeface="Aptos Mono"/>
              </a:rPr>
              <a:t>ANOMALY
SCORE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372600" y="3547872"/>
            <a:ext cx="365760" cy="0"/>
          </a:xfrm>
          <a:prstGeom prst="line">
            <a:avLst/>
          </a:prstGeom>
          <a:ln w="25400">
            <a:solidFill>
              <a:srgbClr val="FF67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1520" y="5166360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218"/>
                </a:solidFill>
                <a:latin typeface="Aptos"/>
              </a:rPr>
              <a:t>The output is a multidimensional “physical fingerprint,” not a single threshold.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06 /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96112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AFAF8"/>
                </a:solidFill>
                <a:latin typeface="Aptos Display"/>
              </a:rPr>
              <a:t>Start simple. Validate first.
Increase complexity only if the data earns it.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3017520"/>
            <a:ext cx="1737360" cy="109728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33756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218"/>
                </a:solidFill>
                <a:latin typeface="Aptos Mono"/>
              </a:rPr>
              <a:t>RAW
MEASUREMENTS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3512" y="3017520"/>
            <a:ext cx="1737360" cy="109728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333756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218"/>
                </a:solidFill>
                <a:latin typeface="Aptos Mono"/>
              </a:rPr>
              <a:t>CLEAN +
NORMALIZE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1224" y="3017520"/>
            <a:ext cx="1737360" cy="109728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58384" y="333756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218"/>
                </a:solidFill>
                <a:latin typeface="Aptos Mono"/>
              </a:rPr>
              <a:t>FEATURE
EXTRACTION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88936" y="3017520"/>
            <a:ext cx="1737360" cy="109728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26096" y="333756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218"/>
                </a:solidFill>
                <a:latin typeface="Aptos Mono"/>
              </a:rPr>
              <a:t>RANDOM FOREST
/ SVM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56648" y="3017520"/>
            <a:ext cx="1737360" cy="109728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93808" y="3337560"/>
            <a:ext cx="14630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F1218"/>
                </a:solidFill>
                <a:latin typeface="Aptos Mono"/>
              </a:rPr>
              <a:t>ANOMALY +
CONFIDENCE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87168" y="3566160"/>
            <a:ext cx="347472" cy="0"/>
          </a:xfrm>
          <a:prstGeom prst="line">
            <a:avLst/>
          </a:prstGeom>
          <a:ln w="25400">
            <a:solidFill>
              <a:srgbClr val="B4E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54880" y="3566160"/>
            <a:ext cx="347472" cy="0"/>
          </a:xfrm>
          <a:prstGeom prst="line">
            <a:avLst/>
          </a:prstGeom>
          <a:ln w="25400">
            <a:solidFill>
              <a:srgbClr val="B4E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022592" y="3566160"/>
            <a:ext cx="347472" cy="0"/>
          </a:xfrm>
          <a:prstGeom prst="line">
            <a:avLst/>
          </a:prstGeom>
          <a:ln w="25400">
            <a:solidFill>
              <a:srgbClr val="B4E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290304" y="3566160"/>
            <a:ext cx="347472" cy="0"/>
          </a:xfrm>
          <a:prstGeom prst="line">
            <a:avLst/>
          </a:prstGeom>
          <a:ln w="25400">
            <a:solidFill>
              <a:srgbClr val="B4EE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31520" y="50292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8EFF6"/>
                </a:solidFill>
                <a:latin typeface="Aptos"/>
              </a:rPr>
              <a:t>Numerical sensor data → traditional ML is the right first move. Neural models come later, if the dataset supports them.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751"/>
                </a:solidFill>
                <a:latin typeface="Aptos Mono"/>
              </a:rPr>
              <a:t>07 / PHYSICAL FINGERPRINT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68580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218"/>
                </a:solidFill>
                <a:latin typeface="Aptos Display"/>
              </a:rPr>
              <a:t>A fingerprint is a vector,
not a verdict.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4663440" cy="2011680"/>
          </a:xfrm>
          <a:prstGeom prst="round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EED6"/>
                </a:solidFill>
                <a:latin typeface="Aptos Mono"/>
              </a:rPr>
              <a:t>REFERENCE-LIKE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520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FAFAF8"/>
                </a:solidFill>
                <a:latin typeface="Aptos Mono"/>
              </a:rPr>
              <a:t>Optical       0.71
Conductivity  1.32
Capacitance   0.46
Temperature   28.4°C
Response      4.2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2743200"/>
            <a:ext cx="4663440" cy="2011680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3063240"/>
            <a:ext cx="40233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751"/>
                </a:solidFill>
                <a:latin typeface="Aptos Mono"/>
              </a:rPr>
              <a:t>NEW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52044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218"/>
                </a:solidFill>
                <a:latin typeface="Aptos Mono"/>
              </a:rPr>
              <a:t>Optical       0.84
Conductivity  1.71
Capacitance   0.59
Temperature   28.3°C
Response      3.1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257800"/>
            <a:ext cx="7955279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0F1218"/>
                </a:solidFill>
                <a:latin typeface="Aptos"/>
              </a:rPr>
              <a:t>AI asks: does this combination fall inside the learned reference region?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08 / OUTPUT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82296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900" b="1">
                <a:solidFill>
                  <a:srgbClr val="FAFAF8"/>
                </a:solidFill>
                <a:latin typeface="Aptos Display"/>
              </a:rPr>
              <a:t>Never show “pure” or “fake.”
Show evidence and next 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051560"/>
            <a:ext cx="3566160" cy="452628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79" y="1371600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218"/>
                </a:solidFill>
                <a:latin typeface="Aptos Mono"/>
              </a:rPr>
              <a:t>PURESENSE / SAMPLE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1874519"/>
            <a:ext cx="1737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300" b="1">
                <a:solidFill>
                  <a:srgbClr val="FF6751"/>
                </a:solidFill>
                <a:latin typeface="Aptos Display"/>
              </a:rPr>
              <a:t>82%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38360" y="21762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0F1218"/>
                </a:solidFill>
                <a:latin typeface="Aptos Mono"/>
              </a:rPr>
              <a:t>ANOMALY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2834640"/>
            <a:ext cx="2834640" cy="502920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2990088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AFAF8"/>
                </a:solidFill>
                <a:latin typeface="Aptos Mono"/>
              </a:rPr>
              <a:t>SUSPICIOUS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3749039"/>
            <a:ext cx="2834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AI confidence 91%
Recommendation:
Send for laboratory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00400"/>
            <a:ext cx="6217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B4EED6"/>
                </a:solidFill>
                <a:latin typeface="Aptos Display"/>
              </a:rPr>
              <a:t>Three states: reference-like · uncertain · suspicious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114800"/>
            <a:ext cx="59436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8EFF6"/>
                </a:solidFill>
                <a:latin typeface="Aptos"/>
              </a:rPr>
              <a:t>Thresholds should be learned from validation data, not invented for the demo.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751"/>
                </a:solidFill>
                <a:latin typeface="Aptos Mono"/>
              </a:rPr>
              <a:t>09 / DATA +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7724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218"/>
                </a:solidFill>
                <a:latin typeface="Aptos Display"/>
              </a:rPr>
              <a:t>Credibility comes from
controlled, repeatable measurements.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926080"/>
            <a:ext cx="3246120" cy="1874519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7552" y="3182112"/>
            <a:ext cx="146304" cy="146304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1363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1 / REFERENCE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611880"/>
            <a:ext cx="2697479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Collect repeated readings from genuine samples across sessions.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2926080"/>
            <a:ext cx="3246120" cy="1874519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9432" y="3182112"/>
            <a:ext cx="146304" cy="146304"/>
          </a:xfrm>
          <a:prstGeom prst="roundRect">
            <a:avLst/>
          </a:prstGeom>
          <a:solidFill>
            <a:srgbClr val="5389FF"/>
          </a:solidFill>
          <a:ln>
            <a:solidFill>
              <a:srgbClr val="538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31363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2 / CONTROLLED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611880"/>
            <a:ext cx="2697479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Create known test levels and record labels, conditions and timing.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2926080"/>
            <a:ext cx="3246120" cy="1874519"/>
          </a:xfrm>
          <a:prstGeom prst="roundRect">
            <a:avLst/>
          </a:prstGeom>
          <a:solidFill>
            <a:srgbClr val="E8EFF6"/>
          </a:solidFill>
          <a:ln>
            <a:solidFill>
              <a:srgbClr val="E8EF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11311" y="3182112"/>
            <a:ext cx="146304" cy="146304"/>
          </a:xfrm>
          <a:prstGeom prst="roundRect">
            <a:avLst/>
          </a:prstGeom>
          <a:solidFill>
            <a:srgbClr val="B4EED6"/>
          </a:solidFill>
          <a:ln>
            <a:solidFill>
              <a:srgbClr val="B4E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3136392"/>
            <a:ext cx="2423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218"/>
                </a:solidFill>
                <a:latin typeface="Aptos Mono"/>
              </a:rPr>
              <a:t>3 / VALIDATE HONESTLY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611880"/>
            <a:ext cx="2697479" cy="10058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"/>
              </a:rPr>
              <a:t>Separate training/test data. Report false positives, false negatives and uncertainty.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257800"/>
            <a:ext cx="9509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0F1218"/>
                </a:solidFill>
                <a:latin typeface="Aptos Mono"/>
              </a:rPr>
              <a:t>Dataset fields: sample ID · food type · sensor readings · environmental conditions · label · timestamp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10 / LIVE HACKATHON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49807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AFAF8"/>
                </a:solidFill>
                <a:latin typeface="Aptos Display"/>
              </a:rPr>
              <a:t>Two samples. One honest test.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71800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B4EED6"/>
                </a:solidFill>
                <a:latin typeface="Aptos Mono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44952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FAF8"/>
                </a:solidFill>
                <a:latin typeface="Aptos"/>
              </a:rPr>
              <a:t>Reference sample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3044952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B4EED6"/>
                </a:solidFill>
                <a:latin typeface="Aptos Mono"/>
              </a:rPr>
              <a:t>→  REFERENCE-LIKE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411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6751"/>
                </a:solidFill>
                <a:latin typeface="Aptos Mono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50791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FAF8"/>
                </a:solidFill>
                <a:latin typeface="Aptos"/>
              </a:rPr>
              <a:t>Controlled test sample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4050791"/>
            <a:ext cx="2651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6751"/>
                </a:solidFill>
                <a:latin typeface="Aptos Mono"/>
              </a:rPr>
              <a:t>→  SUSPICIOUS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240280"/>
            <a:ext cx="2834640" cy="219456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25603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F1218"/>
                </a:solidFill>
                <a:latin typeface="Aptos Mono"/>
              </a:rPr>
              <a:t>LIVE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3154680"/>
            <a:ext cx="20116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100" b="1">
                <a:solidFill>
                  <a:srgbClr val="091224"/>
                </a:solidFill>
                <a:latin typeface="Aptos Display"/>
              </a:rPr>
              <a:t>sensor bars
+ anomaly score
+ next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6675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E8EFF6"/>
                </a:solidFill>
                <a:latin typeface="Aptos"/>
              </a:rPr>
              <a:t>The device is a screening alert, not a laboratory certification.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FF6751"/>
                </a:solidFill>
                <a:latin typeface="Aptos Mono"/>
              </a:rPr>
              <a:t>11 / SCOPE +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0F1218"/>
                </a:solidFill>
                <a:latin typeface="Aptos Display"/>
              </a:rPr>
              <a:t>A focused MVP can grow
into a food-quality platform.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80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751"/>
                </a:solidFill>
                <a:latin typeface="Aptos Mono"/>
              </a:rPr>
              <a:t>VERSION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1218"/>
                </a:solidFill>
                <a:latin typeface="Aptos Display"/>
              </a:rPr>
              <a:t>One food + one controlled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2880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5389FF"/>
                </a:solidFill>
                <a:latin typeface="Aptos Mono"/>
              </a:rPr>
              <a:t>VERSION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246120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1218"/>
                </a:solidFill>
                <a:latin typeface="Aptos Display"/>
              </a:rPr>
              <a:t>Milk → oil → honey → spices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880360"/>
            <a:ext cx="15544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B4EED6"/>
                </a:solidFill>
                <a:latin typeface="Aptos Mono"/>
              </a:rP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3246120"/>
            <a:ext cx="31089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0F1218"/>
                </a:solidFill>
                <a:latin typeface="Aptos Display"/>
              </a:rPr>
              <a:t>Inspectors · retailers
manufacturers · supply chains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83480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0F1218"/>
                </a:solidFill>
                <a:latin typeface="Aptos"/>
              </a:rPr>
              <a:t>The long-term value is a database of sensor fingerprints across products, suppliers, locations and batches.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943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12 / THE NEXT TECHNICAL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955279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100" b="1">
                <a:solidFill>
                  <a:srgbClr val="FAFAF8"/>
                </a:solidFill>
                <a:latin typeface="Aptos Display"/>
              </a:rPr>
              <a:t>Don’t start with the ESP32.
Start with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3154680" cy="91440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306323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51"/>
                </a:solidFill>
                <a:latin typeface="Aptos Mono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30449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218"/>
                </a:solidFill>
                <a:latin typeface="Aptos Display"/>
              </a:rPr>
              <a:t>Choose target food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EED6"/>
                </a:solidFill>
                <a:latin typeface="Aptos Display"/>
              </a:rPr>
              <a:t>Design around measurements, not guesses.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2788920"/>
            <a:ext cx="3154680" cy="91440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306323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51"/>
                </a:solidFill>
                <a:latin typeface="Aptos Mon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79" y="30449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218"/>
                </a:solidFill>
                <a:latin typeface="Aptos Display"/>
              </a:rPr>
              <a:t>Choose adulteration scenario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EED6"/>
                </a:solidFill>
                <a:latin typeface="Aptos Display"/>
              </a:rPr>
              <a:t>Design around measurements, not guesses.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2788920"/>
            <a:ext cx="3154680" cy="91440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063239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51"/>
                </a:solidFill>
                <a:latin typeface="Aptos Mono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0449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218"/>
                </a:solidFill>
                <a:latin typeface="Aptos Display"/>
              </a:rPr>
              <a:t>Test sensor modalities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EED6"/>
                </a:solidFill>
                <a:latin typeface="Aptos Display"/>
              </a:rPr>
              <a:t>Design around measurements, not guesses.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160520"/>
            <a:ext cx="3154680" cy="91440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4348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51"/>
                </a:solidFill>
                <a:latin typeface="Aptos Mono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218"/>
                </a:solidFill>
                <a:latin typeface="Aptos Display"/>
              </a:rPr>
              <a:t>Select useful signals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EED6"/>
                </a:solidFill>
                <a:latin typeface="Aptos Display"/>
              </a:rPr>
              <a:t>Design around measurements, not guesses.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160520"/>
            <a:ext cx="3154680" cy="91440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3440" y="44348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51"/>
                </a:solidFill>
                <a:latin typeface="Aptos Mono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12079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218"/>
                </a:solidFill>
                <a:latin typeface="Aptos Display"/>
              </a:rPr>
              <a:t>Train baseline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EED6"/>
                </a:solidFill>
                <a:latin typeface="Aptos Display"/>
              </a:rPr>
              <a:t>Design around measurements, not guesses.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13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4160520"/>
            <a:ext cx="3154680" cy="914400"/>
          </a:xfrm>
          <a:prstGeom prst="roundRect">
            <a:avLst/>
          </a:prstGeom>
          <a:solidFill>
            <a:srgbClr val="FAFAF8"/>
          </a:solidFill>
          <a:ln>
            <a:solidFill>
              <a:srgbClr val="FAFA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4434840"/>
            <a:ext cx="457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751"/>
                </a:solidFill>
                <a:latin typeface="Aptos Mono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15400" y="4416552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F1218"/>
                </a:solidFill>
                <a:latin typeface="Aptos Display"/>
              </a:rPr>
              <a:t>Integrate hardware + UI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692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B4EED6"/>
                </a:solidFill>
                <a:latin typeface="Aptos Display"/>
              </a:rPr>
              <a:t>Design around measurements, not guesses.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58200" y="-548640"/>
            <a:ext cx="4206240" cy="4206240"/>
          </a:xfrm>
          <a:prstGeom prst="roundRect">
            <a:avLst/>
          </a:prstGeom>
          <a:solidFill>
            <a:srgbClr val="FF6751"/>
          </a:solidFill>
          <a:ln>
            <a:solidFill>
              <a:srgbClr val="FF67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89720" y="137160"/>
            <a:ext cx="2926080" cy="2926080"/>
          </a:xfrm>
          <a:prstGeom prst="roundRect">
            <a:avLst/>
          </a:prstGeom>
          <a:solidFill>
            <a:srgbClr val="091224"/>
          </a:solidFill>
          <a:ln>
            <a:solidFill>
              <a:srgbClr val="091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29800" y="822960"/>
            <a:ext cx="1645920" cy="1645920"/>
          </a:xfrm>
          <a:prstGeom prst="roundRect">
            <a:avLst/>
          </a:prstGeom>
          <a:solidFill>
            <a:srgbClr val="B4EED6"/>
          </a:solidFill>
          <a:ln>
            <a:solidFill>
              <a:srgbClr val="B4EE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315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4EED6"/>
                </a:solidFill>
                <a:latin typeface="Aptos Mono"/>
              </a:rPr>
              <a:t>THE PROPOSAL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75895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900" b="1">
                <a:solidFill>
                  <a:srgbClr val="FAFAF8"/>
                </a:solidFill>
                <a:latin typeface="Aptos Display"/>
              </a:rPr>
              <a:t>PureSense proposes a low-cost, portable multisensor platform that combines optical, electrical and thermal measurements with AI-based sensor fusion to rapidly screen food samples for anomalous physical signatures.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343400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B4EED6"/>
                </a:solidFill>
                <a:latin typeface="Aptos Display"/>
              </a:rPr>
              <a:t>Sense the sample.
Learn the fingerprint.
Flag the anomaly.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669280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E8EFF6"/>
                </a:solidFill>
                <a:latin typeface="Aptos Mono"/>
              </a:rPr>
              <a:t>Laboratory verification when required.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547104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A5B0C2"/>
                </a:solidFill>
                <a:latin typeface="Aptos Mono"/>
              </a:rPr>
              <a:t>PureSense / AI Food-Adulteration Fingerprint Detector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547104"/>
            <a:ext cx="36576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A5B0C2"/>
                </a:solidFill>
                <a:latin typeface="Aptos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